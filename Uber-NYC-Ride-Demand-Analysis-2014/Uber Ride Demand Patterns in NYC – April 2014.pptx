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3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4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5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6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7.xml"/><Relationship Id="rId2" Type="http://schemas.openxmlformats.org/officeDocument/2006/relationships/hyperlink" Target="https://www.linkedin.com/in/mohit-patel-a69662281/" TargetMode="Externa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84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1635" y="323215"/>
            <a:ext cx="9144000" cy="1577340"/>
          </a:xfrm>
        </p:spPr>
        <p:txBody>
          <a:bodyPr>
            <a:normAutofit fontScale="90000"/>
          </a:bodyPr>
          <a:p>
            <a:r>
              <a:rPr lang="en-US" altLang="en-GB" sz="5300">
                <a:solidFill>
                  <a:schemeClr val="bg1"/>
                </a:solidFill>
                <a:sym typeface="+mn-ea"/>
              </a:rPr>
              <a:t>“Uber Ride Demand Patterns in NYC”</a:t>
            </a:r>
            <a:br>
              <a:rPr lang="en-US" altLang="en-GB" sz="4000">
                <a:solidFill>
                  <a:schemeClr val="bg1"/>
                </a:solidFill>
                <a:sym typeface="+mn-ea"/>
              </a:rPr>
            </a:br>
            <a:r>
              <a:rPr lang="en-US" altLang="en-GB" sz="3100">
                <a:solidFill>
                  <a:schemeClr val="bg1"/>
                </a:solidFill>
                <a:sym typeface="+mn-ea"/>
              </a:rPr>
              <a:t>The Hidden Impact of</a:t>
            </a:r>
            <a:r>
              <a:rPr lang="en-IN" altLang="en-US" sz="310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n-GB" sz="3100">
                <a:solidFill>
                  <a:schemeClr val="bg1"/>
                </a:solidFill>
                <a:sym typeface="+mn-ea"/>
              </a:rPr>
              <a:t>Urban Mobility</a:t>
            </a:r>
            <a:endParaRPr lang="en-US" altLang="en-GB" sz="3100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22980"/>
            <a:ext cx="9144000" cy="2822575"/>
          </a:xfrm>
        </p:spPr>
        <p:txBody>
          <a:bodyPr>
            <a:normAutofit lnSpcReduction="20000"/>
          </a:bodyPr>
          <a:p>
            <a:pPr algn="l"/>
            <a:r>
              <a:rPr lang="en-IN" altLang="en-GB">
                <a:solidFill>
                  <a:schemeClr val="bg1"/>
                </a:solidFill>
              </a:rPr>
              <a:t>Mohit Patel</a:t>
            </a:r>
            <a:endParaRPr lang="en-IN" altLang="en-GB">
              <a:solidFill>
                <a:schemeClr val="bg1"/>
              </a:solidFill>
            </a:endParaRPr>
          </a:p>
          <a:p>
            <a:pPr algn="l"/>
            <a:r>
              <a:rPr lang="en-US" altLang="en-GB">
                <a:solidFill>
                  <a:schemeClr val="bg1"/>
                </a:solidFill>
              </a:rPr>
              <a:t>February</a:t>
            </a:r>
            <a:r>
              <a:rPr lang="en-IN" altLang="en-US">
                <a:solidFill>
                  <a:schemeClr val="bg1"/>
                </a:solidFill>
              </a:rPr>
              <a:t>,</a:t>
            </a:r>
            <a:r>
              <a:rPr lang="en-US" altLang="en-GB">
                <a:solidFill>
                  <a:schemeClr val="bg1"/>
                </a:solidFill>
              </a:rPr>
              <a:t> 2026</a:t>
            </a:r>
            <a:endParaRPr lang="en-US" altLang="en-GB">
              <a:solidFill>
                <a:schemeClr val="bg1"/>
              </a:solidFill>
            </a:endParaRPr>
          </a:p>
          <a:p>
            <a:pPr algn="l"/>
            <a:r>
              <a:rPr lang="en-US" altLang="en-GB">
                <a:solidFill>
                  <a:schemeClr val="bg1"/>
                </a:solidFill>
              </a:rPr>
              <a:t>Data Analyst Portfolio Project</a:t>
            </a:r>
            <a:endParaRPr lang="en-US" altLang="en-GB">
              <a:solidFill>
                <a:schemeClr val="bg1"/>
              </a:solidFill>
            </a:endParaRPr>
          </a:p>
          <a:p>
            <a:pPr algn="l"/>
            <a:endParaRPr lang="en-US" altLang="en-GB">
              <a:solidFill>
                <a:schemeClr val="bg1"/>
              </a:solidFill>
            </a:endParaRPr>
          </a:p>
          <a:p>
            <a:pPr algn="l"/>
            <a:r>
              <a:rPr lang="en-US" altLang="en-GB">
                <a:solidFill>
                  <a:schemeClr val="bg1"/>
                </a:solidFill>
              </a:rPr>
              <a:t>In a city where traffic never sleeps,</a:t>
            </a:r>
            <a:endParaRPr lang="en-US" altLang="en-GB">
              <a:solidFill>
                <a:schemeClr val="bg1"/>
              </a:solidFill>
            </a:endParaRPr>
          </a:p>
          <a:p>
            <a:pPr algn="l"/>
            <a:r>
              <a:rPr lang="en-US" altLang="en-GB">
                <a:solidFill>
                  <a:schemeClr val="bg1"/>
                </a:solidFill>
              </a:rPr>
              <a:t>are we still in control of our rides</a:t>
            </a:r>
            <a:endParaRPr lang="en-US" altLang="en-GB">
              <a:solidFill>
                <a:schemeClr val="bg1"/>
              </a:solidFill>
            </a:endParaRPr>
          </a:p>
          <a:p>
            <a:pPr algn="l"/>
            <a:r>
              <a:rPr lang="en-US" altLang="en-GB">
                <a:solidFill>
                  <a:schemeClr val="bg1"/>
                </a:solidFill>
              </a:rPr>
              <a:t>or are our rides controlling us?</a:t>
            </a:r>
            <a:endParaRPr lang="en-US" altLang="en-GB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65125" y="459105"/>
            <a:ext cx="4770755" cy="1088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800">
                <a:solidFill>
                  <a:schemeClr val="bg1"/>
                </a:solidFill>
              </a:rPr>
              <a:t>Behind the Wheel – Our Data Story</a:t>
            </a:r>
            <a:endParaRPr lang="en-US" altLang="en-GB" sz="2800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65125" y="1431290"/>
            <a:ext cx="515493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Source: Kaggle – Uber Pickups in New York City (FiveThirtyEight, 2014)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Purpose: Explore patterns in Uber ride demand to understand peak times, locations, and business opportunities.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April 2014: ~565,000 rides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Key Columns: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Date/Time (timestamp of pickup)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Lat, Lon (pickup location)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Base (Uber affiliate code)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Cleaning Steps: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Parsed timestamps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Added Hour, Day of Week, Approximate Borough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Removed invalid Lat/Lon (outliers)</a:t>
            </a:r>
            <a:endParaRPr lang="en-US" altLang="en-GB">
              <a:solidFill>
                <a:schemeClr val="bg1"/>
              </a:solidFill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2"/>
          <a:srcRect l="-186" t="621" r="186" b="60972"/>
          <a:stretch>
            <a:fillRect/>
          </a:stretch>
        </p:blipFill>
        <p:spPr>
          <a:xfrm>
            <a:off x="5520055" y="229235"/>
            <a:ext cx="6530975" cy="6399530"/>
          </a:xfr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2"/>
          <a:srcRect t="6192" b="14579"/>
          <a:stretch>
            <a:fillRect/>
          </a:stretch>
        </p:blipFill>
        <p:spPr>
          <a:xfrm>
            <a:off x="548640" y="2590800"/>
            <a:ext cx="10771505" cy="3935095"/>
          </a:xfrm>
        </p:spPr>
      </p:pic>
      <p:sp>
        <p:nvSpPr>
          <p:cNvPr id="2" name="Text Box 1"/>
          <p:cNvSpPr txBox="1"/>
          <p:nvPr/>
        </p:nvSpPr>
        <p:spPr>
          <a:xfrm>
            <a:off x="548640" y="227330"/>
            <a:ext cx="51746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800">
                <a:solidFill>
                  <a:schemeClr val="bg1"/>
                </a:solidFill>
              </a:rPr>
              <a:t>Key Metrics – April 2014</a:t>
            </a:r>
            <a:endParaRPr lang="en-US" altLang="en-GB" sz="2800">
              <a:solidFill>
                <a:schemeClr val="bg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48640" y="793750"/>
            <a:ext cx="4890135" cy="1753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chemeClr val="bg1"/>
                </a:solidFill>
              </a:rPr>
              <a:t>Total Pickups: 565K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Average Daily Rides: 18.82K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Max Hourly Rides: ~45K (across all days)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Insight: Half a million rides in just one month — huge scale!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olidFill>
                  <a:schemeClr val="bg1"/>
                </a:solidFill>
              </a:rPr>
              <a:t>Are weekday evenings more intense?</a:t>
            </a:r>
            <a:endParaRPr lang="en-US" altLang="en-GB">
              <a:solidFill>
                <a:schemeClr val="bg1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1195" y="1691005"/>
            <a:ext cx="7515860" cy="370649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99770" y="1640205"/>
            <a:ext cx="2498725" cy="4582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400">
                <a:solidFill>
                  <a:schemeClr val="bg1"/>
                </a:solidFill>
              </a:rPr>
              <a:t>Evening rush (5–8 PM) clearly dominates weekdays.</a:t>
            </a:r>
            <a:endParaRPr lang="en-US" altLang="en-GB" sz="2400">
              <a:solidFill>
                <a:schemeClr val="bg1"/>
              </a:solidFill>
            </a:endParaRPr>
          </a:p>
          <a:p>
            <a:endParaRPr lang="en-US" altLang="en-GB" sz="2400">
              <a:solidFill>
                <a:schemeClr val="bg1"/>
              </a:solidFill>
            </a:endParaRPr>
          </a:p>
          <a:p>
            <a:r>
              <a:rPr lang="en-US" altLang="en-GB" sz="2400">
                <a:solidFill>
                  <a:schemeClr val="bg1"/>
                </a:solidFill>
              </a:rPr>
              <a:t>Wednesday shows the highest single-hour peak.</a:t>
            </a:r>
            <a:endParaRPr lang="en-US" altLang="en-GB" sz="2400">
              <a:solidFill>
                <a:schemeClr val="bg1"/>
              </a:solidFill>
            </a:endParaRPr>
          </a:p>
          <a:p>
            <a:endParaRPr lang="en-US" altLang="en-GB" sz="2400">
              <a:solidFill>
                <a:schemeClr val="bg1"/>
              </a:solidFill>
            </a:endParaRPr>
          </a:p>
          <a:p>
            <a:r>
              <a:rPr lang="en-US" altLang="en-GB" sz="2400">
                <a:solidFill>
                  <a:schemeClr val="bg1"/>
                </a:solidFill>
              </a:rPr>
              <a:t>Weekends are quieter — different pattern.</a:t>
            </a:r>
            <a:endParaRPr lang="en-US" altLang="en-GB" sz="240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0"/>
            <a:ext cx="10515600" cy="777240"/>
          </a:xfrm>
        </p:spPr>
        <p:txBody>
          <a:bodyPr/>
          <a:p>
            <a:r>
              <a:rPr lang="en-US" altLang="en-GB">
                <a:solidFill>
                  <a:schemeClr val="bg1"/>
                </a:solidFill>
              </a:rPr>
              <a:t>Does location play a hidden role?</a:t>
            </a:r>
            <a:endParaRPr lang="en-US" altLang="en-GB">
              <a:solidFill>
                <a:schemeClr val="bg1"/>
              </a:solidFill>
            </a:endParaRPr>
          </a:p>
        </p:txBody>
      </p:sp>
      <p:pic>
        <p:nvPicPr>
          <p:cNvPr id="6" name="Content Placeholder 5" descr="Screenshot 2026-02-12 124510"/>
          <p:cNvPicPr>
            <a:picLocks noChangeAspect="1"/>
          </p:cNvPicPr>
          <p:nvPr>
            <p:ph idx="1"/>
          </p:nvPr>
        </p:nvPicPr>
        <p:blipFill>
          <a:blip r:embed="rId2"/>
          <a:srcRect t="34734" b="34734"/>
          <a:stretch>
            <a:fillRect/>
          </a:stretch>
        </p:blipFill>
        <p:spPr>
          <a:xfrm>
            <a:off x="182880" y="777240"/>
            <a:ext cx="8321675" cy="5829300"/>
          </a:xfrm>
        </p:spPr>
      </p:pic>
      <p:sp>
        <p:nvSpPr>
          <p:cNvPr id="7" name="Text Box 6"/>
          <p:cNvSpPr txBox="1"/>
          <p:nvPr/>
        </p:nvSpPr>
        <p:spPr>
          <a:xfrm>
            <a:off x="8504555" y="777240"/>
            <a:ext cx="4064000" cy="5512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>
                <a:solidFill>
                  <a:schemeClr val="bg1"/>
                </a:solidFill>
              </a:rPr>
              <a:t>86% of rides in Manhattan (486K out of 565K)</a:t>
            </a:r>
            <a:endParaRPr lang="en-US" altLang="en-GB" sz="3200">
              <a:solidFill>
                <a:schemeClr val="bg1"/>
              </a:solidFill>
            </a:endParaRPr>
          </a:p>
          <a:p>
            <a:endParaRPr lang="en-US" altLang="en-GB" sz="3200">
              <a:solidFill>
                <a:schemeClr val="bg1"/>
              </a:solidFill>
            </a:endParaRPr>
          </a:p>
          <a:p>
            <a:r>
              <a:rPr lang="en-US" altLang="en-GB" sz="3200">
                <a:solidFill>
                  <a:schemeClr val="bg1"/>
                </a:solidFill>
              </a:rPr>
              <a:t>Central areas (Manhattan) drive almost all rush-hour spikes.</a:t>
            </a:r>
            <a:endParaRPr lang="en-US" altLang="en-GB" sz="3200">
              <a:solidFill>
                <a:schemeClr val="bg1"/>
              </a:solidFill>
            </a:endParaRPr>
          </a:p>
          <a:p>
            <a:endParaRPr lang="en-US" altLang="en-GB" sz="3200">
              <a:solidFill>
                <a:schemeClr val="bg1"/>
              </a:solidFill>
            </a:endParaRPr>
          </a:p>
          <a:p>
            <a:r>
              <a:rPr lang="en-US" altLang="en-GB" sz="3200">
                <a:solidFill>
                  <a:schemeClr val="bg1"/>
                </a:solidFill>
              </a:rPr>
              <a:t>Outer boroughs have much lower volume.</a:t>
            </a:r>
            <a:endParaRPr lang="en-US" altLang="en-GB" sz="320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2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>
                <a:solidFill>
                  <a:schemeClr val="bg1"/>
                </a:solidFill>
              </a:rPr>
              <a:t>From Awareness to </a:t>
            </a:r>
            <a:r>
              <a:rPr lang="en-US" altLang="en-GB">
                <a:solidFill>
                  <a:schemeClr val="bg1"/>
                </a:solidFill>
              </a:rPr>
              <a:t>Action – What We Learned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GB">
                <a:solidFill>
                  <a:schemeClr val="bg1"/>
                </a:solidFill>
              </a:rPr>
              <a:t>Our data journey isn’t about blame — it’s about balance.</a:t>
            </a:r>
            <a:endParaRPr lang="en-US" altLang="en-GB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GB">
                <a:solidFill>
                  <a:schemeClr val="bg1"/>
                </a:solidFill>
              </a:rPr>
              <a:t>Yes, weekday evenings show significantly higher demand (peaks at 5–8 PM).</a:t>
            </a:r>
            <a:endParaRPr lang="en-US" altLang="en-GB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GB">
                <a:solidFill>
                  <a:schemeClr val="bg1"/>
                </a:solidFill>
              </a:rPr>
              <a:t>Yes, Manhattan dominates (86% of rides).</a:t>
            </a:r>
            <a:endParaRPr lang="en-US" altLang="en-GB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GB">
                <a:solidFill>
                  <a:schemeClr val="bg1"/>
                </a:solidFill>
              </a:rPr>
              <a:t>But awareness is the first step toward better operations:</a:t>
            </a:r>
            <a:endParaRPr lang="en-US" altLang="en-GB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US" altLang="en-GB">
              <a:solidFill>
                <a:schemeClr val="bg1"/>
              </a:solidFill>
            </a:endParaRPr>
          </a:p>
          <a:p>
            <a:pPr lvl="1"/>
            <a:r>
              <a:rPr lang="en-US" altLang="en-GB">
                <a:solidFill>
                  <a:schemeClr val="bg1"/>
                </a:solidFill>
              </a:rPr>
              <a:t>More drivers during rush hours</a:t>
            </a:r>
            <a:endParaRPr lang="en-US" altLang="en-GB">
              <a:solidFill>
                <a:schemeClr val="bg1"/>
              </a:solidFill>
            </a:endParaRPr>
          </a:p>
          <a:p>
            <a:pPr lvl="1"/>
            <a:r>
              <a:rPr lang="en-US" altLang="en-GB">
                <a:solidFill>
                  <a:schemeClr val="bg1"/>
                </a:solidFill>
              </a:rPr>
              <a:t>Targeted surge pricing</a:t>
            </a:r>
            <a:endParaRPr lang="en-US" altLang="en-GB">
              <a:solidFill>
                <a:schemeClr val="bg1"/>
              </a:solidFill>
            </a:endParaRPr>
          </a:p>
          <a:p>
            <a:pPr lvl="1"/>
            <a:r>
              <a:rPr lang="en-US" altLang="en-GB">
                <a:solidFill>
                  <a:schemeClr val="bg1"/>
                </a:solidFill>
              </a:rPr>
              <a:t>Reduced wait times for riders</a:t>
            </a:r>
            <a:endParaRPr lang="en-US" altLang="en-GB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87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1866900" y="1661160"/>
            <a:ext cx="9159240" cy="3298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5400">
                <a:solidFill>
                  <a:schemeClr val="bg1"/>
                </a:solidFill>
              </a:rPr>
              <a:t>Thank You!</a:t>
            </a:r>
            <a:endParaRPr lang="en-US" altLang="en-GB" sz="5400">
              <a:solidFill>
                <a:schemeClr val="bg1"/>
              </a:solidFill>
            </a:endParaRPr>
          </a:p>
          <a:p>
            <a:endParaRPr lang="en-US" altLang="en-GB" sz="4800">
              <a:solidFill>
                <a:schemeClr val="bg1"/>
              </a:solidFill>
            </a:endParaRPr>
          </a:p>
          <a:p>
            <a:r>
              <a:rPr lang="en-US" altLang="en-GB" sz="3200">
                <a:solidFill>
                  <a:schemeClr val="bg1"/>
                </a:solidFill>
              </a:rPr>
              <a:t>Questions?</a:t>
            </a:r>
            <a:endParaRPr lang="en-US" altLang="en-GB" sz="3200">
              <a:solidFill>
                <a:schemeClr val="bg1"/>
              </a:solidFill>
            </a:endParaRPr>
          </a:p>
          <a:p>
            <a:r>
              <a:rPr lang="en-US" altLang="en-GB" sz="3200">
                <a:solidFill>
                  <a:schemeClr val="bg1"/>
                </a:solidFill>
              </a:rPr>
              <a:t>Feel free to connect: </a:t>
            </a:r>
            <a:r>
              <a:rPr lang="en-IN" altLang="en-US" sz="3200">
                <a:solidFill>
                  <a:srgbClr val="002060"/>
                </a:solidFill>
                <a:hlinkClick r:id="rId2" action="ppaction://hlinkfile">
                  <a:extLst>
                    <a:ext uri="{DAF060AB-1E55-43B9-8AAB-6FB025537F2F}">
                      <wpsdc:hlinkClr xmlns:wpsdc="http://www.wps.cn/officeDocument/2017/drawingmlCustomData" val="FFC000"/>
                      <wpsdc:folHlinkClr xmlns:wpsdc="http://www.wps.cn/officeDocument/2017/drawingmlCustomData" val="954F72"/>
                      <wpsdc:hlinkUnderline xmlns:wpsdc="http://www.wps.cn/officeDocument/2017/drawingmlCustomData" val="1"/>
                    </a:ext>
                  </a:extLst>
                </a:hlinkClick>
              </a:rPr>
              <a:t>Mohit Patel</a:t>
            </a:r>
            <a:r>
              <a:rPr lang="en-IN" altLang="en-US" sz="3200">
                <a:solidFill>
                  <a:schemeClr val="bg1"/>
                </a:solidFill>
                <a:hlinkClick r:id="rId2" action="ppaction://hlinkfile">
                  <a:extLst>
                    <a:ext uri="{DAF060AB-1E55-43B9-8AAB-6FB025537F2F}">
                      <wpsdc:hlinkClr xmlns:wpsdc="http://www.wps.cn/officeDocument/2017/drawingmlCustomData" val="FFC000"/>
                      <wpsdc:folHlinkClr xmlns:wpsdc="http://www.wps.cn/officeDocument/2017/drawingmlCustomData" val="954F72"/>
                      <wpsdc:hlinkUnderline xmlns:wpsdc="http://www.wps.cn/officeDocument/2017/drawingmlCustomData" val="1"/>
                    </a:ext>
                  </a:extLst>
                </a:hlinkClick>
              </a:rPr>
              <a:t> </a:t>
            </a:r>
            <a:r>
              <a:rPr lang="en-IN" altLang="en-US" sz="3200">
                <a:solidFill>
                  <a:schemeClr val="bg1"/>
                </a:solidFill>
              </a:rPr>
              <a:t>				          	        mohitpatel24266@gmail.com</a:t>
            </a:r>
            <a:endParaRPr lang="en-IN" altLang="en-US" sz="320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djacency">
    <a:dk1>
      <a:srgbClr val="2F2B20"/>
    </a:dk1>
    <a:lt1>
      <a:srgbClr val="FFFFFF"/>
    </a:lt1>
    <a:dk2>
      <a:srgbClr val="675E47"/>
    </a:dk2>
    <a:lt2>
      <a:srgbClr val="DFDCB7"/>
    </a:lt2>
    <a:accent1>
      <a:srgbClr val="A9A57C"/>
    </a:accent1>
    <a:accent2>
      <a:srgbClr val="9CBEBD"/>
    </a:accent2>
    <a:accent3>
      <a:srgbClr val="D2CB6C"/>
    </a:accent3>
    <a:accent4>
      <a:srgbClr val="95A39D"/>
    </a:accent4>
    <a:accent5>
      <a:srgbClr val="C89F5D"/>
    </a:accent5>
    <a:accent6>
      <a:srgbClr val="B1A089"/>
    </a:accent6>
    <a:hlink>
      <a:srgbClr val="D25814"/>
    </a:hlink>
    <a:folHlink>
      <a:srgbClr val="849A0A"/>
    </a:folHlink>
  </a:clrScheme>
</a:themeOverride>
</file>

<file path=ppt/theme/themeOverride2.xml><?xml version="1.0" encoding="utf-8"?>
<a:themeOverride xmlns:a="http://schemas.openxmlformats.org/drawingml/2006/main">
  <a:clrScheme name="Adjacency">
    <a:dk1>
      <a:srgbClr val="2F2B20"/>
    </a:dk1>
    <a:lt1>
      <a:srgbClr val="FFFFFF"/>
    </a:lt1>
    <a:dk2>
      <a:srgbClr val="675E47"/>
    </a:dk2>
    <a:lt2>
      <a:srgbClr val="DFDCB7"/>
    </a:lt2>
    <a:accent1>
      <a:srgbClr val="A9A57C"/>
    </a:accent1>
    <a:accent2>
      <a:srgbClr val="9CBEBD"/>
    </a:accent2>
    <a:accent3>
      <a:srgbClr val="D2CB6C"/>
    </a:accent3>
    <a:accent4>
      <a:srgbClr val="95A39D"/>
    </a:accent4>
    <a:accent5>
      <a:srgbClr val="C89F5D"/>
    </a:accent5>
    <a:accent6>
      <a:srgbClr val="B1A089"/>
    </a:accent6>
    <a:hlink>
      <a:srgbClr val="D25814"/>
    </a:hlink>
    <a:folHlink>
      <a:srgbClr val="849A0A"/>
    </a:folHlink>
  </a:clrScheme>
</a:themeOverride>
</file>

<file path=ppt/theme/themeOverride3.xml><?xml version="1.0" encoding="utf-8"?>
<a:themeOverride xmlns:a="http://schemas.openxmlformats.org/drawingml/2006/main">
  <a:clrScheme name="Adjacency">
    <a:dk1>
      <a:srgbClr val="2F2B20"/>
    </a:dk1>
    <a:lt1>
      <a:srgbClr val="FFFFFF"/>
    </a:lt1>
    <a:dk2>
      <a:srgbClr val="675E47"/>
    </a:dk2>
    <a:lt2>
      <a:srgbClr val="DFDCB7"/>
    </a:lt2>
    <a:accent1>
      <a:srgbClr val="A9A57C"/>
    </a:accent1>
    <a:accent2>
      <a:srgbClr val="9CBEBD"/>
    </a:accent2>
    <a:accent3>
      <a:srgbClr val="D2CB6C"/>
    </a:accent3>
    <a:accent4>
      <a:srgbClr val="95A39D"/>
    </a:accent4>
    <a:accent5>
      <a:srgbClr val="C89F5D"/>
    </a:accent5>
    <a:accent6>
      <a:srgbClr val="B1A089"/>
    </a:accent6>
    <a:hlink>
      <a:srgbClr val="D25814"/>
    </a:hlink>
    <a:folHlink>
      <a:srgbClr val="849A0A"/>
    </a:folHlink>
  </a:clrScheme>
</a:themeOverride>
</file>

<file path=ppt/theme/themeOverride4.xml><?xml version="1.0" encoding="utf-8"?>
<a:themeOverride xmlns:a="http://schemas.openxmlformats.org/drawingml/2006/main">
  <a:clrScheme name="Adjacency">
    <a:dk1>
      <a:srgbClr val="2F2B20"/>
    </a:dk1>
    <a:lt1>
      <a:srgbClr val="FFFFFF"/>
    </a:lt1>
    <a:dk2>
      <a:srgbClr val="675E47"/>
    </a:dk2>
    <a:lt2>
      <a:srgbClr val="DFDCB7"/>
    </a:lt2>
    <a:accent1>
      <a:srgbClr val="A9A57C"/>
    </a:accent1>
    <a:accent2>
      <a:srgbClr val="9CBEBD"/>
    </a:accent2>
    <a:accent3>
      <a:srgbClr val="D2CB6C"/>
    </a:accent3>
    <a:accent4>
      <a:srgbClr val="95A39D"/>
    </a:accent4>
    <a:accent5>
      <a:srgbClr val="C89F5D"/>
    </a:accent5>
    <a:accent6>
      <a:srgbClr val="B1A089"/>
    </a:accent6>
    <a:hlink>
      <a:srgbClr val="D25814"/>
    </a:hlink>
    <a:folHlink>
      <a:srgbClr val="849A0A"/>
    </a:folHlink>
  </a:clrScheme>
</a:themeOverride>
</file>

<file path=ppt/theme/themeOverride5.xml><?xml version="1.0" encoding="utf-8"?>
<a:themeOverride xmlns:a="http://schemas.openxmlformats.org/drawingml/2006/main">
  <a:clrScheme name="Adjacency">
    <a:dk1>
      <a:srgbClr val="2F2B20"/>
    </a:dk1>
    <a:lt1>
      <a:srgbClr val="FFFFFF"/>
    </a:lt1>
    <a:dk2>
      <a:srgbClr val="675E47"/>
    </a:dk2>
    <a:lt2>
      <a:srgbClr val="DFDCB7"/>
    </a:lt2>
    <a:accent1>
      <a:srgbClr val="A9A57C"/>
    </a:accent1>
    <a:accent2>
      <a:srgbClr val="9CBEBD"/>
    </a:accent2>
    <a:accent3>
      <a:srgbClr val="D2CB6C"/>
    </a:accent3>
    <a:accent4>
      <a:srgbClr val="95A39D"/>
    </a:accent4>
    <a:accent5>
      <a:srgbClr val="C89F5D"/>
    </a:accent5>
    <a:accent6>
      <a:srgbClr val="B1A089"/>
    </a:accent6>
    <a:hlink>
      <a:srgbClr val="D25814"/>
    </a:hlink>
    <a:folHlink>
      <a:srgbClr val="849A0A"/>
    </a:folHlink>
  </a:clrScheme>
</a:themeOverride>
</file>

<file path=ppt/theme/themeOverride6.xml><?xml version="1.0" encoding="utf-8"?>
<a:themeOverride xmlns:a="http://schemas.openxmlformats.org/drawingml/2006/main">
  <a:clrScheme name="Adjacency">
    <a:dk1>
      <a:srgbClr val="2F2B20"/>
    </a:dk1>
    <a:lt1>
      <a:srgbClr val="FFFFFF"/>
    </a:lt1>
    <a:dk2>
      <a:srgbClr val="675E47"/>
    </a:dk2>
    <a:lt2>
      <a:srgbClr val="DFDCB7"/>
    </a:lt2>
    <a:accent1>
      <a:srgbClr val="A9A57C"/>
    </a:accent1>
    <a:accent2>
      <a:srgbClr val="9CBEBD"/>
    </a:accent2>
    <a:accent3>
      <a:srgbClr val="D2CB6C"/>
    </a:accent3>
    <a:accent4>
      <a:srgbClr val="95A39D"/>
    </a:accent4>
    <a:accent5>
      <a:srgbClr val="C89F5D"/>
    </a:accent5>
    <a:accent6>
      <a:srgbClr val="B1A089"/>
    </a:accent6>
    <a:hlink>
      <a:srgbClr val="D25814"/>
    </a:hlink>
    <a:folHlink>
      <a:srgbClr val="849A0A"/>
    </a:folHlink>
  </a:clrScheme>
</a:themeOverride>
</file>

<file path=ppt/theme/themeOverride7.xml><?xml version="1.0" encoding="utf-8"?>
<a:themeOverride xmlns:a="http://schemas.openxmlformats.org/drawingml/2006/main">
  <a:clrScheme name="Adjacency">
    <a:dk1>
      <a:srgbClr val="2F2B20"/>
    </a:dk1>
    <a:lt1>
      <a:srgbClr val="FFFFFF"/>
    </a:lt1>
    <a:dk2>
      <a:srgbClr val="675E47"/>
    </a:dk2>
    <a:lt2>
      <a:srgbClr val="DFDCB7"/>
    </a:lt2>
    <a:accent1>
      <a:srgbClr val="A9A57C"/>
    </a:accent1>
    <a:accent2>
      <a:srgbClr val="9CBEBD"/>
    </a:accent2>
    <a:accent3>
      <a:srgbClr val="D2CB6C"/>
    </a:accent3>
    <a:accent4>
      <a:srgbClr val="95A39D"/>
    </a:accent4>
    <a:accent5>
      <a:srgbClr val="C89F5D"/>
    </a:accent5>
    <a:accent6>
      <a:srgbClr val="B1A089"/>
    </a:accent6>
    <a:hlink>
      <a:srgbClr val="D25814"/>
    </a:hlink>
    <a:folHlink>
      <a:srgbClr val="849A0A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1640</Words>
  <Application>WPS Presentation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Uber Ride Demand Patterns in NYC – April 2014</vt:lpstr>
      <vt:lpstr>PowerPoint 演示文稿</vt:lpstr>
      <vt:lpstr>PowerPoint 演示文稿</vt:lpstr>
      <vt:lpstr>Are weekday evenings more intense?</vt:lpstr>
      <vt:lpstr>Does location play a hidden role?</vt:lpstr>
      <vt:lpstr>From Awareness to Action – What We Learned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mohit</dc:creator>
  <cp:lastModifiedBy>Mohit Patel</cp:lastModifiedBy>
  <cp:revision>8</cp:revision>
  <dcterms:created xsi:type="dcterms:W3CDTF">2025-07-23T00:59:00Z</dcterms:created>
  <dcterms:modified xsi:type="dcterms:W3CDTF">2026-02-12T08:37:30Z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D865FEC54B114E4596C105A0A3D9EDA3_11</vt:lpwstr>
  </property>
  <property fmtid="{D5CDD505-2E9C-101B-9397-08002B2CF9AE}" pid="3" name="KSOProductBuildVer">
    <vt:lpwstr>2057-12.2.0.23197</vt:lpwstr>
  </property>
</Properties>
</file>